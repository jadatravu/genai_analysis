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Platypi Medium" panose="020B0604020202020204" charset="0"/>
      <p:regular r:id="rId12"/>
    </p:embeddedFont>
    <p:embeddedFont>
      <p:font typeface="Source Serif 4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7917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Phidata Agent with MCP Performance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Evaluating MongoDB integration approaches for enterprise-scale intelligent agents Text to SQL case study. with mongodb tools access over REST API over mongodb tools access over Model Context Protocol access over REST API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153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Executive Summary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39113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Strategic Objective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3043237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Comprehensive evaluation of </a:t>
            </a: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Phidata Agent performance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comparing two distinct MongoDB integration architectures: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061823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REST API tools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– Traditional endpoint approach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866924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Model Context Protocol (MCP)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– Advanced contextual layer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239113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Findings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4856321" y="3043237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Analysis reveals substantial performance advantages with MCP implementation: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4336018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Significant </a:t>
            </a: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latency reduction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across all query types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550402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Enhanced natural language comprehension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856321" y="630912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Superior operational efficiency metrics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4730" y="706041"/>
            <a:ext cx="5494258" cy="620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Architecture Overview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94730" y="1624013"/>
            <a:ext cx="7754541" cy="3009305"/>
          </a:xfrm>
          <a:prstGeom prst="roundRect">
            <a:avLst>
              <a:gd name="adj" fmla="val 989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893207" y="1822490"/>
            <a:ext cx="595432" cy="595432"/>
          </a:xfrm>
          <a:prstGeom prst="roundRect">
            <a:avLst>
              <a:gd name="adj" fmla="val 15355382"/>
            </a:avLst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6918" y="1986201"/>
            <a:ext cx="267891" cy="2678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3207" y="2616398"/>
            <a:ext cx="272938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Case 1: REST API Tools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893207" y="3045619"/>
            <a:ext cx="735758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Traditional architecture with REST endpoints for tool invocation. Each natural language query triggers serialisation, HTTP transmission, tool execution, and response handling.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893207" y="4117300"/>
            <a:ext cx="735758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Challenge:</a:t>
            </a: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Multiple round-trips between LLM and tool layer increase latency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94730" y="4831794"/>
            <a:ext cx="7754541" cy="2691765"/>
          </a:xfrm>
          <a:prstGeom prst="roundRect">
            <a:avLst>
              <a:gd name="adj" fmla="val 1106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893207" y="5030272"/>
            <a:ext cx="595432" cy="595432"/>
          </a:xfrm>
          <a:prstGeom prst="roundRect">
            <a:avLst>
              <a:gd name="adj" fmla="val 15355382"/>
            </a:avLst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6918" y="5193983"/>
            <a:ext cx="267891" cy="2678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3207" y="5824180"/>
            <a:ext cx="280594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Case 2: MCP over REST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893207" y="6253401"/>
            <a:ext cx="735758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Advanced implementation with tools defined in Model Context Protocol layer. LLM interacts through contextual tool registry over REST.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893207" y="7007543"/>
            <a:ext cx="735758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Advantage:</a:t>
            </a: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Reduced serialisation overhead with enhanced tool awareness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16913"/>
            <a:ext cx="58393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Experimental Design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06585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2420898"/>
            <a:ext cx="3664744" cy="30480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80190" y="2595205"/>
            <a:ext cx="29615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Dataset Composition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280190" y="3085624"/>
            <a:ext cx="366474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Natural language queries engineered to access MongoDB through Phidata Agent, categorised by computational complexity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171748" y="206585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0171748" y="2420898"/>
            <a:ext cx="3664863" cy="30480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171748" y="25952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Complexity Tiers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171748" y="3085624"/>
            <a:ext cx="366486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Low: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Simple filter/read operations | </a:t>
            </a:r>
            <a:r>
              <a:rPr lang="en-US" sz="17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Medium: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Multi-field filters with aggregation | </a:t>
            </a:r>
            <a:r>
              <a:rPr lang="en-US" sz="17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High: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Nested conditions and cross-collection joins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280190" y="529697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0190" y="5652016"/>
            <a:ext cx="7556421" cy="30480"/>
          </a:xfrm>
          <a:prstGeom prst="rect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280190" y="5826323"/>
            <a:ext cx="29125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Performance Metrics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280190" y="631674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Response time measurement (seconds) and query complexity classification across both implementation approaches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220" y="337304"/>
            <a:ext cx="5024676" cy="383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Performance Comparison Results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20" y="965954"/>
            <a:ext cx="13771959" cy="73442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99628" y="8310205"/>
            <a:ext cx="122634" cy="122634"/>
          </a:xfrm>
          <a:prstGeom prst="roundRect">
            <a:avLst>
              <a:gd name="adj" fmla="val 14913"/>
            </a:avLst>
          </a:prstGeom>
          <a:solidFill>
            <a:srgbClr val="3B23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83223" y="8310205"/>
            <a:ext cx="1455777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REST API Tools (seconds)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391400" y="8310205"/>
            <a:ext cx="122634" cy="122634"/>
          </a:xfrm>
          <a:prstGeom prst="roundRect">
            <a:avLst>
              <a:gd name="adj" fmla="val 14913"/>
            </a:avLst>
          </a:prstGeom>
          <a:solidFill>
            <a:srgbClr val="8B53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574994" y="8310205"/>
            <a:ext cx="1807250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MCP Tools over REST (seconds)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29220" y="8877538"/>
            <a:ext cx="4488418" cy="404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3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8×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1906786" y="9435465"/>
            <a:ext cx="153328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Low Complexity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9220" y="9700736"/>
            <a:ext cx="4488418" cy="196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Performance improvement factor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70872" y="8877538"/>
            <a:ext cx="4488537" cy="404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3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15×</a:t>
            </a:r>
            <a:endParaRPr lang="en-US" sz="3150" dirty="0"/>
          </a:p>
        </p:txBody>
      </p:sp>
      <p:sp>
        <p:nvSpPr>
          <p:cNvPr id="12" name="Text 9"/>
          <p:cNvSpPr/>
          <p:nvPr/>
        </p:nvSpPr>
        <p:spPr>
          <a:xfrm>
            <a:off x="6548438" y="9435465"/>
            <a:ext cx="153328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Medium Complexity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70872" y="9700736"/>
            <a:ext cx="4488537" cy="196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Performance improvement factor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712643" y="8877538"/>
            <a:ext cx="4488537" cy="404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3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20×</a:t>
            </a:r>
            <a:endParaRPr lang="en-US" sz="3150" dirty="0"/>
          </a:p>
        </p:txBody>
      </p:sp>
      <p:sp>
        <p:nvSpPr>
          <p:cNvPr id="15" name="Text 12"/>
          <p:cNvSpPr/>
          <p:nvPr/>
        </p:nvSpPr>
        <p:spPr>
          <a:xfrm>
            <a:off x="11190208" y="9435465"/>
            <a:ext cx="1533287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High Complexity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712643" y="9700736"/>
            <a:ext cx="4488537" cy="196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Performance improvement factor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29220" y="10034945"/>
            <a:ext cx="13771959" cy="196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MCP tools consistently outperform REST tools across all complexity tiers, with improvement scaling as query complexity increases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76303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Latency Analysis Deep Dive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68366"/>
            <a:ext cx="495550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Critical Performance Patterns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820472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REST API tools demonstrate </a:t>
            </a: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exponential latency growth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as query complexity increases, creating scalability concerns for enterprise deployments.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13252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Conversely, MCP tools exhibit </a:t>
            </a:r>
            <a:r>
              <a:rPr lang="en-US" sz="17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linear scaling characteristics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with minimal latency increase from low to high complexity queries.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658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Root Cause Factors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5647015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Substantially fewer HTTP round-trips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089213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Intelligent context caching in MCP layer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531412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Optimised serialisation and deserialisation protocols</a:t>
            </a:r>
            <a:endParaRPr lang="en-US" sz="17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2196703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1616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5195" y="2774633"/>
            <a:ext cx="8763238" cy="540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Natural Language Processing Capabilities</a:t>
            </a:r>
            <a:endParaRPr lang="en-US" sz="3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195" y="3574256"/>
            <a:ext cx="864632" cy="10376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42705" y="3747135"/>
            <a:ext cx="2917627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Superior Context Retention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642705" y="4121110"/>
            <a:ext cx="12382500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MCP implementation maintains conversational context across sequential queries, enabling more sophisticated multi-turn interactions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195" y="4611886"/>
            <a:ext cx="864632" cy="103763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42705" y="4784765"/>
            <a:ext cx="2775466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Enhanced Query Accuracy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1642705" y="5158740"/>
            <a:ext cx="12382500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Higher precision in interpreting multi-field MongoDB queries with complex filtering requirements and aggregation pipelines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195" y="5649516"/>
            <a:ext cx="864632" cy="103763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42705" y="5822394"/>
            <a:ext cx="2161699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Reduced Error Rates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1642705" y="6196370"/>
            <a:ext cx="12382500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Fewer ambiguous tool selection errors and improved handling of query chaining scenarios</a:t>
            </a:r>
            <a:endParaRPr lang="en-US" sz="1350" dirty="0"/>
          </a:p>
        </p:txBody>
      </p:sp>
      <p:sp>
        <p:nvSpPr>
          <p:cNvPr id="13" name="Shape 7"/>
          <p:cNvSpPr/>
          <p:nvPr/>
        </p:nvSpPr>
        <p:spPr>
          <a:xfrm>
            <a:off x="605195" y="6881693"/>
            <a:ext cx="13420011" cy="734854"/>
          </a:xfrm>
          <a:prstGeom prst="roundRect">
            <a:avLst>
              <a:gd name="adj" fmla="val 3530"/>
            </a:avLst>
          </a:prstGeom>
          <a:solidFill>
            <a:srgbClr val="EDD5C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073" y="7144583"/>
            <a:ext cx="216098" cy="17287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67051" y="7097792"/>
            <a:ext cx="12685276" cy="27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REST API Limitations:</a:t>
            </a:r>
            <a:r>
              <a:rPr lang="en-US" sz="13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Traditional tools struggle with query chaining and exhibit context loss between sequential calls, impacting user experience quality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96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3533" y="505658"/>
            <a:ext cx="5876449" cy="574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Strategic Business Impact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43533" y="1356003"/>
            <a:ext cx="7856934" cy="1456611"/>
          </a:xfrm>
          <a:prstGeom prst="roundRect">
            <a:avLst>
              <a:gd name="adj" fmla="val 7533"/>
            </a:avLst>
          </a:prstGeom>
          <a:solidFill>
            <a:srgbClr val="FFFFFF"/>
          </a:solidFill>
          <a:ln w="22860">
            <a:solidFill>
              <a:srgbClr val="3E25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20673" y="1356003"/>
            <a:ext cx="91440" cy="1456611"/>
          </a:xfrm>
          <a:prstGeom prst="roundRect">
            <a:avLst>
              <a:gd name="adj" fmla="val 30166"/>
            </a:avLst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8805" y="1562695"/>
            <a:ext cx="357235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Enhanced User Experience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918805" y="2017752"/>
            <a:ext cx="7374969" cy="58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Dramatic response time improvements translate directly to superior end-user satisfaction and engagement metrics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3533" y="2996446"/>
            <a:ext cx="7856934" cy="1456611"/>
          </a:xfrm>
          <a:prstGeom prst="roundRect">
            <a:avLst>
              <a:gd name="adj" fmla="val 7533"/>
            </a:avLst>
          </a:prstGeom>
          <a:solidFill>
            <a:srgbClr val="FFFFFF"/>
          </a:solidFill>
          <a:ln w="22860">
            <a:solidFill>
              <a:srgbClr val="3E25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20673" y="2996446"/>
            <a:ext cx="91440" cy="1456611"/>
          </a:xfrm>
          <a:prstGeom prst="roundRect">
            <a:avLst>
              <a:gd name="adj" fmla="val 30166"/>
            </a:avLst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8805" y="3203138"/>
            <a:ext cx="27583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Cost Optimisation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918805" y="3658195"/>
            <a:ext cx="7374969" cy="58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Reduced API compute costs through lower latency and more efficient resource utilisation across infrastructure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3533" y="4636889"/>
            <a:ext cx="7856934" cy="1456611"/>
          </a:xfrm>
          <a:prstGeom prst="roundRect">
            <a:avLst>
              <a:gd name="adj" fmla="val 7533"/>
            </a:avLst>
          </a:prstGeom>
          <a:solidFill>
            <a:srgbClr val="FFFFFF"/>
          </a:solidFill>
          <a:ln w="22860">
            <a:solidFill>
              <a:srgbClr val="3E25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20673" y="4636889"/>
            <a:ext cx="91440" cy="1456611"/>
          </a:xfrm>
          <a:prstGeom prst="roundRect">
            <a:avLst>
              <a:gd name="adj" fmla="val 30166"/>
            </a:avLst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8805" y="4843582"/>
            <a:ext cx="3050619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Operational Reliability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918805" y="5298638"/>
            <a:ext cx="7374969" cy="58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Greater system reliability through structured tool invocation patterns and reduced error propagation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3533" y="6277332"/>
            <a:ext cx="7856934" cy="1456611"/>
          </a:xfrm>
          <a:prstGeom prst="roundRect">
            <a:avLst>
              <a:gd name="adj" fmla="val 7533"/>
            </a:avLst>
          </a:prstGeom>
          <a:solidFill>
            <a:srgbClr val="FFFFFF"/>
          </a:solidFill>
          <a:ln w="22860">
            <a:solidFill>
              <a:srgbClr val="3E25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20673" y="6277332"/>
            <a:ext cx="91440" cy="1456611"/>
          </a:xfrm>
          <a:prstGeom prst="roundRect">
            <a:avLst>
              <a:gd name="adj" fmla="val 30166"/>
            </a:avLst>
          </a:prstGeom>
          <a:solidFill>
            <a:srgbClr val="3E2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18805" y="6484025"/>
            <a:ext cx="3043714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Scalability Framework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918805" y="6939082"/>
            <a:ext cx="7374969" cy="58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Simplified scaling operations through MCP standardisation across diverse tool ecosystems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7937" y="549473"/>
            <a:ext cx="6455331" cy="569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Executive Recommendations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820222" y="1756767"/>
            <a:ext cx="182166" cy="820103"/>
          </a:xfrm>
          <a:prstGeom prst="roundRect">
            <a:avLst>
              <a:gd name="adj" fmla="val 15010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37937" y="1637109"/>
            <a:ext cx="546735" cy="546735"/>
          </a:xfrm>
          <a:prstGeom prst="roundRect">
            <a:avLst>
              <a:gd name="adj" fmla="val 83624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621" y="1773793"/>
            <a:ext cx="273368" cy="273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66837" y="1665565"/>
            <a:ext cx="307812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Immediate Implementation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366837" y="2059662"/>
            <a:ext cx="12625626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Adopt MCP-based tool integration for production Phidata agents to capitalise on demonstrated performance advantages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93589" y="3032522"/>
            <a:ext cx="182166" cy="820103"/>
          </a:xfrm>
          <a:prstGeom prst="roundRect">
            <a:avLst>
              <a:gd name="adj" fmla="val 15010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11304" y="2912864"/>
            <a:ext cx="546735" cy="546735"/>
          </a:xfrm>
          <a:prstGeom prst="roundRect">
            <a:avLst>
              <a:gd name="adj" fmla="val 83624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7988" y="3049548"/>
            <a:ext cx="273368" cy="2733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0205" y="2941320"/>
            <a:ext cx="2423517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Optimisation Priority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1640205" y="3335417"/>
            <a:ext cx="12352258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Prioritise complex query optimisation strategies to fully leverage MCP efficiency gains in high-value use cases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1366957" y="4308277"/>
            <a:ext cx="182166" cy="820103"/>
          </a:xfrm>
          <a:prstGeom prst="roundRect">
            <a:avLst>
              <a:gd name="adj" fmla="val 15010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1184672" y="4188619"/>
            <a:ext cx="546735" cy="546735"/>
          </a:xfrm>
          <a:prstGeom prst="roundRect">
            <a:avLst>
              <a:gd name="adj" fmla="val 83624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21356" y="4325303"/>
            <a:ext cx="273368" cy="2733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13573" y="4217075"/>
            <a:ext cx="2628186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Continuous Monitoring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1913573" y="4611172"/>
            <a:ext cx="12078891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Establish metrics tracking framework: average response time, error rate distribution, and latency percentiles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1640443" y="5584031"/>
            <a:ext cx="182166" cy="820103"/>
          </a:xfrm>
          <a:prstGeom prst="roundRect">
            <a:avLst>
              <a:gd name="adj" fmla="val 15010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1458158" y="5464373"/>
            <a:ext cx="546735" cy="546735"/>
          </a:xfrm>
          <a:prstGeom prst="roundRect">
            <a:avLst>
              <a:gd name="adj" fmla="val 83624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94842" y="5601057"/>
            <a:ext cx="273368" cy="2733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187059" y="5492829"/>
            <a:ext cx="2387679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Ecosystem Extension</a:t>
            </a:r>
            <a:endParaRPr lang="en-US" sz="1750" dirty="0"/>
          </a:p>
        </p:txBody>
      </p:sp>
      <p:sp>
        <p:nvSpPr>
          <p:cNvPr id="22" name="Text 16"/>
          <p:cNvSpPr/>
          <p:nvPr/>
        </p:nvSpPr>
        <p:spPr>
          <a:xfrm>
            <a:off x="2187059" y="5886926"/>
            <a:ext cx="11805404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Expand MCP integration to non-MongoDB tools including RESTful microservices and data analytics APIs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1366957" y="6859786"/>
            <a:ext cx="182166" cy="820103"/>
          </a:xfrm>
          <a:prstGeom prst="roundRect">
            <a:avLst>
              <a:gd name="adj" fmla="val 15010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1184672" y="6740128"/>
            <a:ext cx="546735" cy="546735"/>
          </a:xfrm>
          <a:prstGeom prst="roundRect">
            <a:avLst>
              <a:gd name="adj" fmla="val 83624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21356" y="6876812"/>
            <a:ext cx="273368" cy="2733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913573" y="6768584"/>
            <a:ext cx="2886551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Future-Proof Architecture</a:t>
            </a:r>
            <a:endParaRPr lang="en-US" sz="1750" dirty="0"/>
          </a:p>
        </p:txBody>
      </p:sp>
      <p:sp>
        <p:nvSpPr>
          <p:cNvPr id="27" name="Text 20"/>
          <p:cNvSpPr/>
          <p:nvPr/>
        </p:nvSpPr>
        <p:spPr>
          <a:xfrm>
            <a:off x="1913573" y="7162681"/>
            <a:ext cx="12078891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Build strategic advantage through standardised model-context interoperability and vendor-agnostic integration patterns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585</Words>
  <Application>Microsoft Office PowerPoint</Application>
  <PresentationFormat>Custom</PresentationFormat>
  <Paragraphs>87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Platypi Medium</vt:lpstr>
      <vt:lpstr>Platypi Light</vt:lpstr>
      <vt:lpstr>Arial</vt:lpstr>
      <vt:lpstr>Source Serif 4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Surya Janardhana Rao Adatravu</dc:creator>
  <cp:lastModifiedBy>Surya Janardhana Rao Adatravu</cp:lastModifiedBy>
  <cp:revision>1</cp:revision>
  <dcterms:created xsi:type="dcterms:W3CDTF">2025-11-10T10:28:06Z</dcterms:created>
  <dcterms:modified xsi:type="dcterms:W3CDTF">2026-02-26T05:39:49Z</dcterms:modified>
</cp:coreProperties>
</file>